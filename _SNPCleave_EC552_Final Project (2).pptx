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576">
          <p15:clr>
            <a:srgbClr val="747775"/>
          </p15:clr>
        </p15:guide>
        <p15:guide id="4" orient="horz" pos="480">
          <p15:clr>
            <a:srgbClr val="747775"/>
          </p15:clr>
        </p15:guide>
        <p15:guide id="5" orient="horz" pos="576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hKw09JNCWNeQYA8v/ntORmjkDu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AF65CE-4952-4BA7-B39B-3DFD5777F2F3}">
  <a:tblStyle styleId="{65AF65CE-4952-4BA7-B39B-3DFD5777F2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1576" orient="horz"/>
        <p:guide pos="480" orient="horz"/>
        <p:guide pos="57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016b745d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a016b745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g3a016b745dc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c0cbf9c99_4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cc0cbf9c99_4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HEEWON</a:t>
            </a:r>
            <a:endParaRPr/>
          </a:p>
        </p:txBody>
      </p:sp>
      <p:sp>
        <p:nvSpPr>
          <p:cNvPr id="97" name="Google Shape;97;g3cc0cbf9c99_4_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77e5040e2_1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77e5040e2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977e5040e2_1_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77e5040e2_1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77e5040e2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ALEX</a:t>
            </a:r>
            <a:endParaRPr/>
          </a:p>
        </p:txBody>
      </p:sp>
      <p:sp>
        <p:nvSpPr>
          <p:cNvPr id="120" name="Google Shape;120;g3977e5040e2_1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79036c643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979036c64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ALEX &amp; HEEWON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979036c643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794fb1a07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794fb1a0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9794fb1a07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c0cbf9c99_1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c0cbf9c99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LUKE</a:t>
            </a:r>
            <a:endParaRPr/>
          </a:p>
        </p:txBody>
      </p:sp>
      <p:sp>
        <p:nvSpPr>
          <p:cNvPr id="144" name="Google Shape;144;g3cc0cbf9c99_1_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77e5040e2_1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77e5040e2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Minh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– DISPLAY THE OUTPUT FROM THE GUI BASED ON THE USER VIEWPOINT  </a:t>
            </a:r>
            <a:endParaRPr b="1"/>
          </a:p>
        </p:txBody>
      </p:sp>
      <p:sp>
        <p:nvSpPr>
          <p:cNvPr id="155" name="Google Shape;155;g3977e5040e2_1_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78b5ecc7f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78b5ecc7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MIHN/LUKE</a:t>
            </a:r>
            <a:endParaRPr/>
          </a:p>
        </p:txBody>
      </p:sp>
      <p:sp>
        <p:nvSpPr>
          <p:cNvPr id="165" name="Google Shape;165;g3978b5ecc7f_0_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3d8052bae_2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3d8052bae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MINH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– DISPLAY THE OUTPUT FROM THE GUI BASED ON THE USER VIEWPOINT </a:t>
            </a:r>
            <a:endParaRPr/>
          </a:p>
        </p:txBody>
      </p:sp>
      <p:sp>
        <p:nvSpPr>
          <p:cNvPr id="174" name="Google Shape;174;g3d3d8052bae_2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794fb1a07_2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9794fb1a07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9794fb1a07_2_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77e5040e2_1_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977e5040e2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LUKE</a:t>
            </a:r>
            <a:endParaRPr/>
          </a:p>
        </p:txBody>
      </p:sp>
      <p:sp>
        <p:nvSpPr>
          <p:cNvPr id="190" name="Google Shape;190;g3977e5040e2_1_9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77e5040e2_1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977e5040e2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ALEX</a:t>
            </a:r>
            <a:endParaRPr/>
          </a:p>
        </p:txBody>
      </p:sp>
      <p:sp>
        <p:nvSpPr>
          <p:cNvPr id="197" name="Google Shape;197;g3977e5040e2_1_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c0cbf9c99_1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cc0cbf9c99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g3cc0cbf9c99_1_6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/>
          <p:nvPr/>
        </p:nvSpPr>
        <p:spPr>
          <a:xfrm>
            <a:off x="0" y="-76200"/>
            <a:ext cx="12192000" cy="57912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rgbClr val="333333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9"/>
          <p:cNvSpPr/>
          <p:nvPr/>
        </p:nvSpPr>
        <p:spPr>
          <a:xfrm>
            <a:off x="0" y="5638800"/>
            <a:ext cx="12192000" cy="1219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" name="Google Shape;20;p9"/>
          <p:cNvCxnSpPr/>
          <p:nvPr/>
        </p:nvCxnSpPr>
        <p:spPr>
          <a:xfrm>
            <a:off x="0" y="56388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4D4D4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" name="Google Shape;2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53987" y="5911433"/>
            <a:ext cx="1484026" cy="67393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9"/>
          <p:cNvSpPr txBox="1"/>
          <p:nvPr>
            <p:ph type="ctrTitle"/>
          </p:nvPr>
        </p:nvSpPr>
        <p:spPr>
          <a:xfrm>
            <a:off x="914400" y="16002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subTitle"/>
          </p:nvPr>
        </p:nvSpPr>
        <p:spPr>
          <a:xfrm>
            <a:off x="1828800" y="32004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  <a:defRPr>
                <a:solidFill>
                  <a:srgbClr val="CCCCCC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/>
          <p:nvPr>
            <p:ph type="title"/>
          </p:nvPr>
        </p:nvSpPr>
        <p:spPr>
          <a:xfrm>
            <a:off x="812800" y="762000"/>
            <a:ext cx="1056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" type="body"/>
          </p:nvPr>
        </p:nvSpPr>
        <p:spPr>
          <a:xfrm>
            <a:off x="812800" y="1828800"/>
            <a:ext cx="10566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812800" y="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9448800" y="5903913"/>
            <a:ext cx="193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10"/>
          <p:cNvSpPr txBox="1"/>
          <p:nvPr>
            <p:ph idx="10" type="dt"/>
          </p:nvPr>
        </p:nvSpPr>
        <p:spPr>
          <a:xfrm>
            <a:off x="8839200" y="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812800" y="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9448800" y="5903913"/>
            <a:ext cx="193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8839200" y="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7" name="Google Shape;37;p11"/>
          <p:cNvSpPr txBox="1"/>
          <p:nvPr>
            <p:ph idx="11" type="ftr"/>
          </p:nvPr>
        </p:nvSpPr>
        <p:spPr>
          <a:xfrm>
            <a:off x="812800" y="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2" type="sldNum"/>
          </p:nvPr>
        </p:nvSpPr>
        <p:spPr>
          <a:xfrm>
            <a:off x="9448800" y="5903913"/>
            <a:ext cx="193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1"/>
          <p:cNvSpPr txBox="1"/>
          <p:nvPr>
            <p:ph idx="10" type="dt"/>
          </p:nvPr>
        </p:nvSpPr>
        <p:spPr>
          <a:xfrm>
            <a:off x="8839200" y="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812800" y="762000"/>
            <a:ext cx="1056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812800" y="1828800"/>
            <a:ext cx="5181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6197600" y="1828800"/>
            <a:ext cx="5181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44" name="Google Shape;44;p12"/>
          <p:cNvSpPr txBox="1"/>
          <p:nvPr>
            <p:ph idx="11" type="ftr"/>
          </p:nvPr>
        </p:nvSpPr>
        <p:spPr>
          <a:xfrm>
            <a:off x="812800" y="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9448800" y="5903913"/>
            <a:ext cx="193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8839200" y="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1" name="Google Shape;51;p13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3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812800" y="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9448800" y="5903913"/>
            <a:ext cx="193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8839200" y="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812800" y="762000"/>
            <a:ext cx="1056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812800" y="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9448800" y="5903913"/>
            <a:ext cx="193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8839200" y="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64" name="Google Shape;64;p16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1" type="ftr"/>
          </p:nvPr>
        </p:nvSpPr>
        <p:spPr>
          <a:xfrm>
            <a:off x="812800" y="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9448800" y="5903913"/>
            <a:ext cx="193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16"/>
          <p:cNvSpPr txBox="1"/>
          <p:nvPr>
            <p:ph idx="10" type="dt"/>
          </p:nvPr>
        </p:nvSpPr>
        <p:spPr>
          <a:xfrm>
            <a:off x="8839200" y="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812800" y="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9448800" y="5903913"/>
            <a:ext cx="193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7"/>
          <p:cNvSpPr txBox="1"/>
          <p:nvPr>
            <p:ph idx="10" type="dt"/>
          </p:nvPr>
        </p:nvSpPr>
        <p:spPr>
          <a:xfrm>
            <a:off x="8839200" y="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812800" y="762000"/>
            <a:ext cx="1056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" type="body"/>
          </p:nvPr>
        </p:nvSpPr>
        <p:spPr>
          <a:xfrm rot="5400000">
            <a:off x="4152900" y="-1511300"/>
            <a:ext cx="3886200" cy="10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812800" y="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9448800" y="5903913"/>
            <a:ext cx="193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18"/>
          <p:cNvSpPr txBox="1"/>
          <p:nvPr>
            <p:ph idx="10" type="dt"/>
          </p:nvPr>
        </p:nvSpPr>
        <p:spPr>
          <a:xfrm>
            <a:off x="8839200" y="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title"/>
          </p:nvPr>
        </p:nvSpPr>
        <p:spPr>
          <a:xfrm rot="5400000">
            <a:off x="7581900" y="1917700"/>
            <a:ext cx="4953000" cy="2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" type="body"/>
          </p:nvPr>
        </p:nvSpPr>
        <p:spPr>
          <a:xfrm rot="5400000">
            <a:off x="2197100" y="-622300"/>
            <a:ext cx="4953000" cy="77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1" type="ftr"/>
          </p:nvPr>
        </p:nvSpPr>
        <p:spPr>
          <a:xfrm>
            <a:off x="812800" y="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9448800" y="5903913"/>
            <a:ext cx="193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19"/>
          <p:cNvSpPr txBox="1"/>
          <p:nvPr>
            <p:ph idx="10" type="dt"/>
          </p:nvPr>
        </p:nvSpPr>
        <p:spPr>
          <a:xfrm>
            <a:off x="8839200" y="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0" y="-42863"/>
            <a:ext cx="12192000" cy="347663"/>
          </a:xfrm>
          <a:prstGeom prst="rect">
            <a:avLst/>
          </a:prstGeom>
          <a:gradFill>
            <a:gsLst>
              <a:gs pos="0">
                <a:srgbClr val="333333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8"/>
          <p:cNvSpPr txBox="1"/>
          <p:nvPr>
            <p:ph type="title"/>
          </p:nvPr>
        </p:nvSpPr>
        <p:spPr>
          <a:xfrm>
            <a:off x="812800" y="762000"/>
            <a:ext cx="1056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" type="body"/>
          </p:nvPr>
        </p:nvSpPr>
        <p:spPr>
          <a:xfrm>
            <a:off x="812800" y="1828800"/>
            <a:ext cx="10566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675B4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2675B4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675B4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75B4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75B4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812800" y="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9448800" y="5903913"/>
            <a:ext cx="193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8"/>
          <p:cNvSpPr txBox="1"/>
          <p:nvPr>
            <p:ph idx="10" type="dt"/>
          </p:nvPr>
        </p:nvSpPr>
        <p:spPr>
          <a:xfrm>
            <a:off x="8839200" y="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" name="Google Shape;16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2802" y="6237288"/>
            <a:ext cx="896077" cy="4349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rive.google.com/file/d/1Zlv9HJRwwX3o1Xl_NMbALaPO3bRwJb7A/view?usp=drive_link" TargetMode="External"/><Relationship Id="rId4" Type="http://schemas.openxmlformats.org/officeDocument/2006/relationships/hyperlink" Target="http://drive.google.com/file/d/1Zlv9HJRwwX3o1Xl_NMbALaPO3bRwJb7A/view" TargetMode="External"/><Relationship Id="rId5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016b745dc_0_0"/>
          <p:cNvSpPr txBox="1"/>
          <p:nvPr>
            <p:ph type="ctrTitle"/>
          </p:nvPr>
        </p:nvSpPr>
        <p:spPr>
          <a:xfrm>
            <a:off x="579875" y="16002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r>
              <a:rPr lang="en-US"/>
              <a:t>Computational Platform for Synthetic Correction of Disease-Causing SNPs: Sickle Cell Disease</a:t>
            </a:r>
            <a:endParaRPr/>
          </a:p>
        </p:txBody>
      </p:sp>
      <p:sp>
        <p:nvSpPr>
          <p:cNvPr id="93" name="Google Shape;93;g3a016b745dc_0_0"/>
          <p:cNvSpPr txBox="1"/>
          <p:nvPr>
            <p:ph idx="1" type="subTitle"/>
          </p:nvPr>
        </p:nvSpPr>
        <p:spPr>
          <a:xfrm>
            <a:off x="826350" y="3200400"/>
            <a:ext cx="105393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b="1" lang="en-US"/>
              <a:t>Luke Hovagimian, Alexander Leong, Minh Nguyen, Heewon Park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/>
              <a:t>Point of Contact: lukehov@bu.edu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/>
              <a:t>April 22nd, 2026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c0cbf9c99_4_17"/>
          <p:cNvSpPr txBox="1"/>
          <p:nvPr>
            <p:ph type="title"/>
          </p:nvPr>
        </p:nvSpPr>
        <p:spPr>
          <a:xfrm>
            <a:off x="812850" y="762000"/>
            <a:ext cx="10566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Goal &amp; Motivations</a:t>
            </a:r>
            <a:endParaRPr b="0" sz="2600"/>
          </a:p>
        </p:txBody>
      </p:sp>
      <p:sp>
        <p:nvSpPr>
          <p:cNvPr id="100" name="Google Shape;100;g3cc0cbf9c99_4_17"/>
          <p:cNvSpPr txBox="1"/>
          <p:nvPr/>
        </p:nvSpPr>
        <p:spPr>
          <a:xfrm>
            <a:off x="728700" y="1447800"/>
            <a:ext cx="10757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SNPs contribute to various diseases and health conditions, but </a:t>
            </a:r>
            <a:r>
              <a:rPr b="1" lang="en-US" sz="2200">
                <a:solidFill>
                  <a:schemeClr val="dk1"/>
                </a:solidFill>
              </a:rPr>
              <a:t>current methods focus mainly on detecting these mutations</a:t>
            </a:r>
            <a:r>
              <a:rPr lang="en-US" sz="2200">
                <a:solidFill>
                  <a:schemeClr val="dk1"/>
                </a:solidFill>
              </a:rPr>
              <a:t> rather than developing therapeutic solutions. A </a:t>
            </a:r>
            <a:r>
              <a:rPr b="1" lang="en-US" sz="2200">
                <a:solidFill>
                  <a:schemeClr val="dk1"/>
                </a:solidFill>
              </a:rPr>
              <a:t>computational framework</a:t>
            </a:r>
            <a:r>
              <a:rPr lang="en-US" sz="2200">
                <a:solidFill>
                  <a:schemeClr val="dk1"/>
                </a:solidFill>
              </a:rPr>
              <a:t> is needed to </a:t>
            </a:r>
            <a:r>
              <a:rPr b="1" lang="en-US" sz="2200">
                <a:solidFill>
                  <a:schemeClr val="dk1"/>
                </a:solidFill>
              </a:rPr>
              <a:t>identify SNPs</a:t>
            </a:r>
            <a:r>
              <a:rPr lang="en-US" sz="2200">
                <a:solidFill>
                  <a:schemeClr val="dk1"/>
                </a:solidFill>
              </a:rPr>
              <a:t> and guide personalized </a:t>
            </a:r>
            <a:r>
              <a:rPr b="1" lang="en-US" sz="2200">
                <a:solidFill>
                  <a:schemeClr val="dk1"/>
                </a:solidFill>
              </a:rPr>
              <a:t>genetic correction strategies</a:t>
            </a:r>
            <a:r>
              <a:rPr lang="en-US" sz="2200">
                <a:solidFill>
                  <a:schemeClr val="dk1"/>
                </a:solidFill>
              </a:rPr>
              <a:t>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cc0cbf9c99_4_17"/>
          <p:cNvSpPr txBox="1"/>
          <p:nvPr/>
        </p:nvSpPr>
        <p:spPr>
          <a:xfrm>
            <a:off x="862200" y="3159200"/>
            <a:ext cx="10490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</a:rPr>
              <a:t>GOAL</a:t>
            </a:r>
            <a:r>
              <a:rPr lang="en-US" sz="2600">
                <a:solidFill>
                  <a:schemeClr val="dk1"/>
                </a:solidFill>
              </a:rPr>
              <a:t>: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arenR"/>
            </a:pPr>
            <a:r>
              <a:rPr lang="en-US" sz="2600">
                <a:solidFill>
                  <a:schemeClr val="dk1"/>
                </a:solidFill>
              </a:rPr>
              <a:t>Identifies disease-associated SNPs from patient sequences (</a:t>
            </a:r>
            <a:r>
              <a:rPr b="1" lang="en-US" sz="2600">
                <a:solidFill>
                  <a:schemeClr val="dk1"/>
                </a:solidFill>
              </a:rPr>
              <a:t>HBB</a:t>
            </a:r>
            <a:r>
              <a:rPr lang="en-US" sz="2600">
                <a:solidFill>
                  <a:schemeClr val="dk1"/>
                </a:solidFill>
              </a:rPr>
              <a:t>)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arenR"/>
            </a:pPr>
            <a:r>
              <a:rPr lang="en-US" sz="2600">
                <a:solidFill>
                  <a:schemeClr val="dk1"/>
                </a:solidFill>
              </a:rPr>
              <a:t>Generates Clustered Regularly Interspaced Short Palindromic Repeats (CRISPR) based correction strategies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arenR"/>
            </a:pPr>
            <a:r>
              <a:rPr lang="en-US" sz="2600">
                <a:solidFill>
                  <a:schemeClr val="dk1"/>
                </a:solidFill>
              </a:rPr>
              <a:t>Evaluates guide ribonucleic acid (gRNA) based on efficiency and off-target safety</a:t>
            </a:r>
            <a:endParaRPr b="1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77e5040e2_1_30"/>
          <p:cNvSpPr txBox="1"/>
          <p:nvPr>
            <p:ph type="title"/>
          </p:nvPr>
        </p:nvSpPr>
        <p:spPr>
          <a:xfrm>
            <a:off x="812850" y="291725"/>
            <a:ext cx="105663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General Functionality Workflow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977e5040e2_1_30"/>
          <p:cNvSpPr txBox="1"/>
          <p:nvPr>
            <p:ph idx="1" type="body"/>
          </p:nvPr>
        </p:nvSpPr>
        <p:spPr>
          <a:xfrm>
            <a:off x="5352150" y="914400"/>
            <a:ext cx="6840000" cy="3589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SNP detection:</a:t>
            </a:r>
            <a:endParaRPr b="1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/>
              <a:t>user input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/>
              <a:t>determine if SNP is detected or not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/>
              <a:t>shows results including the SNP number, position, reference and suggest nucleotide.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/>
              <a:t>export the results in fasta file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CRISPR gRNA:</a:t>
            </a:r>
            <a:endParaRPr b="1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en-US" u="sng"/>
              <a:t>Fasta file export</a:t>
            </a:r>
            <a:endParaRPr u="sng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Char char="-"/>
            </a:pPr>
            <a:r>
              <a:rPr lang="en-US" sz="2400"/>
              <a:t>input exported Fasta file to benchling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Char char="-"/>
            </a:pPr>
            <a:r>
              <a:rPr lang="en-US" sz="2400"/>
              <a:t>pam sites generated by benchling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u="sng"/>
              <a:t>gRNA and CRISPR embedded function</a:t>
            </a:r>
            <a:endParaRPr u="sng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output results similar to the FASTA file are inputted and gRNA design is created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g3977e5040e2_1_30" title="Screenshot 2026-04-21 at 10.40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2375" y="977525"/>
            <a:ext cx="2120075" cy="51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977e5040e2_1_30" title="Screenshot 2026-04-21 at 10.47.4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288" y="1105500"/>
            <a:ext cx="1187325" cy="1148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977e5040e2_1_30" title="Screenshot 2026-04-21 at 10.48.31 PM.png"/>
          <p:cNvPicPr preferRelativeResize="0"/>
          <p:nvPr/>
        </p:nvPicPr>
        <p:blipFill rotWithShape="1">
          <a:blip r:embed="rId5">
            <a:alphaModFix/>
          </a:blip>
          <a:srcRect b="29364" l="0" r="0" t="0"/>
          <a:stretch/>
        </p:blipFill>
        <p:spPr>
          <a:xfrm>
            <a:off x="244300" y="2866975"/>
            <a:ext cx="1257300" cy="91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977e5040e2_1_30"/>
          <p:cNvSpPr txBox="1"/>
          <p:nvPr/>
        </p:nvSpPr>
        <p:spPr>
          <a:xfrm>
            <a:off x="407525" y="3782025"/>
            <a:ext cx="109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ANALYSIS</a:t>
            </a:r>
            <a:endParaRPr b="1" sz="1300">
              <a:solidFill>
                <a:schemeClr val="dk1"/>
              </a:solidFill>
            </a:endParaRPr>
          </a:p>
        </p:txBody>
      </p:sp>
      <p:pic>
        <p:nvPicPr>
          <p:cNvPr id="113" name="Google Shape;113;g3977e5040e2_1_30" title="Screenshot 2026-04-21 at 10.50.11 PM.png"/>
          <p:cNvPicPr preferRelativeResize="0"/>
          <p:nvPr/>
        </p:nvPicPr>
        <p:blipFill rotWithShape="1">
          <a:blip r:embed="rId6">
            <a:alphaModFix/>
          </a:blip>
          <a:srcRect b="31563" l="26905" r="24196" t="0"/>
          <a:stretch/>
        </p:blipFill>
        <p:spPr>
          <a:xfrm>
            <a:off x="571500" y="4961125"/>
            <a:ext cx="811075" cy="51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977e5040e2_1_30"/>
          <p:cNvSpPr txBox="1"/>
          <p:nvPr/>
        </p:nvSpPr>
        <p:spPr>
          <a:xfrm>
            <a:off x="407525" y="5477100"/>
            <a:ext cx="109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RESULTS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15" name="Google Shape;115;g3977e5040e2_1_30"/>
          <p:cNvSpPr txBox="1"/>
          <p:nvPr/>
        </p:nvSpPr>
        <p:spPr>
          <a:xfrm>
            <a:off x="4251350" y="5618500"/>
            <a:ext cx="192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Our status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116" name="Google Shape;116;g3977e5040e2_1_30" title="Screenshot 2026-04-21 at 10.53.21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98900" y="5579050"/>
            <a:ext cx="55245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77e5040e2_1_12"/>
          <p:cNvSpPr txBox="1"/>
          <p:nvPr>
            <p:ph type="title"/>
          </p:nvPr>
        </p:nvSpPr>
        <p:spPr>
          <a:xfrm>
            <a:off x="812850" y="653125"/>
            <a:ext cx="105663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Design Specification </a:t>
            </a:r>
            <a:endParaRPr/>
          </a:p>
        </p:txBody>
      </p:sp>
      <p:sp>
        <p:nvSpPr>
          <p:cNvPr id="123" name="Google Shape;123;g3977e5040e2_1_12"/>
          <p:cNvSpPr txBox="1"/>
          <p:nvPr/>
        </p:nvSpPr>
        <p:spPr>
          <a:xfrm>
            <a:off x="1136850" y="1689925"/>
            <a:ext cx="9325200" cy="2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graphicFrame>
        <p:nvGraphicFramePr>
          <p:cNvPr id="124" name="Google Shape;124;g3977e5040e2_1_12"/>
          <p:cNvGraphicFramePr/>
          <p:nvPr/>
        </p:nvGraphicFramePr>
        <p:xfrm>
          <a:off x="1535163" y="133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{65AF65CE-4952-4BA7-B39B-3DFD5777F2F3}</a:tableStyleId>
              </a:tblPr>
              <a:tblGrid>
                <a:gridCol w="3592925"/>
                <a:gridCol w="5528625"/>
              </a:tblGrid>
              <a:tr h="458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Design</a:t>
                      </a:r>
                      <a:endParaRPr b="1"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Specification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70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Input </a:t>
                      </a:r>
                      <a:r>
                        <a:rPr lang="en-US"/>
                        <a:t>query sequence </a:t>
                      </a:r>
                      <a:r>
                        <a:rPr lang="en-US"/>
                        <a:t>handling &amp; capacity 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Accept FASTA files or manual gene-sequence entry; only valid nucleotide characters (A, C, T, G, N) are allowed; </a:t>
                      </a:r>
                      <a:r>
                        <a:rPr b="1" lang="en-US"/>
                        <a:t>minimum query length: 20 bp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Database handling &amp; </a:t>
                      </a:r>
                      <a:r>
                        <a:rPr lang="en-US"/>
                        <a:t>safety</a:t>
                      </a:r>
                      <a:r>
                        <a:rPr lang="en-US"/>
                        <a:t> check 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Accept FASTA files or manual gene-sequence entry; only valid nucleotide characters (A, C, T, G, N) are allowed; </a:t>
                      </a:r>
                      <a:r>
                        <a:rPr b="1" lang="en-US">
                          <a:solidFill>
                            <a:schemeClr val="dk1"/>
                          </a:solidFill>
                        </a:rPr>
                        <a:t>reject malformed or duplicate records of &gt;99% similarity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; database sequence should be longer than the query for reliable alignment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SNP analysis accuracy 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Select high-quality alignments using mismatch presence, percent identity, and alignment logic; </a:t>
                      </a:r>
                      <a:r>
                        <a:rPr b="1" lang="en-US"/>
                        <a:t>detect the mutated nucleotide position with 100% accuracy on validated test cases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gRNA Design &amp; Scoring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gRNA design with a valid PAM site, scoring (0-1.0) based on </a:t>
                      </a:r>
                      <a:r>
                        <a:rPr b="1" lang="en-US"/>
                        <a:t>minimal SNP-to-cut-site distance (30%), </a:t>
                      </a:r>
                      <a:r>
                        <a:rPr b="1" lang="en-US"/>
                        <a:t>40-65% </a:t>
                      </a:r>
                      <a:r>
                        <a:rPr b="1" lang="en-US"/>
                        <a:t>GC content (25%), low homopolymer penalty (15%), and low off-target activity (30%)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GUI intuitiveness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Present inputs, actions, and outputs clearly; </a:t>
                      </a:r>
                      <a:r>
                        <a:rPr b="1" lang="en-US"/>
                        <a:t>complete the workflow in 7 steps or fewer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79036c643_1_0"/>
          <p:cNvSpPr txBox="1"/>
          <p:nvPr>
            <p:ph type="title"/>
          </p:nvPr>
        </p:nvSpPr>
        <p:spPr>
          <a:xfrm>
            <a:off x="689100" y="311550"/>
            <a:ext cx="1081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Integrated Detailed Workflow</a:t>
            </a:r>
            <a:endParaRPr/>
          </a:p>
        </p:txBody>
      </p:sp>
      <p:sp>
        <p:nvSpPr>
          <p:cNvPr id="131" name="Google Shape;131;g3979036c643_1_0"/>
          <p:cNvSpPr txBox="1"/>
          <p:nvPr>
            <p:ph idx="1" type="body"/>
          </p:nvPr>
        </p:nvSpPr>
        <p:spPr>
          <a:xfrm>
            <a:off x="7383800" y="1661600"/>
            <a:ext cx="3955500" cy="8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Within our code we are able to generate </a:t>
            </a:r>
            <a:r>
              <a:rPr b="1" lang="en-US"/>
              <a:t>GRNA</a:t>
            </a:r>
            <a:r>
              <a:rPr lang="en-US"/>
              <a:t> within our website. However, we need to build more on the </a:t>
            </a:r>
            <a:r>
              <a:rPr b="1" lang="en-US"/>
              <a:t>database</a:t>
            </a:r>
            <a:r>
              <a:rPr lang="en-US"/>
              <a:t> to measure its accuracy.</a:t>
            </a:r>
            <a:endParaRPr/>
          </a:p>
        </p:txBody>
      </p:sp>
      <p:pic>
        <p:nvPicPr>
          <p:cNvPr id="132" name="Google Shape;132;g3979036c643_1_0"/>
          <p:cNvPicPr preferRelativeResize="0"/>
          <p:nvPr/>
        </p:nvPicPr>
        <p:blipFill rotWithShape="1">
          <a:blip r:embed="rId3">
            <a:alphaModFix/>
          </a:blip>
          <a:srcRect b="1544" l="5465" r="3601" t="1940"/>
          <a:stretch/>
        </p:blipFill>
        <p:spPr>
          <a:xfrm>
            <a:off x="381000" y="914400"/>
            <a:ext cx="5834075" cy="538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794fb1a07_1_0"/>
          <p:cNvSpPr txBox="1"/>
          <p:nvPr>
            <p:ph type="title"/>
          </p:nvPr>
        </p:nvSpPr>
        <p:spPr>
          <a:xfrm>
            <a:off x="812800" y="762000"/>
            <a:ext cx="105663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FASTA file </a:t>
            </a:r>
            <a:endParaRPr/>
          </a:p>
        </p:txBody>
      </p:sp>
      <p:pic>
        <p:nvPicPr>
          <p:cNvPr id="139" name="Google Shape;139;g39794fb1a07_1_0" title="Screenshot 2026-04-22 at 1.38.10 PM.png"/>
          <p:cNvPicPr preferRelativeResize="0"/>
          <p:nvPr/>
        </p:nvPicPr>
        <p:blipFill rotWithShape="1">
          <a:blip r:embed="rId3">
            <a:alphaModFix/>
          </a:blip>
          <a:srcRect b="71567" l="0" r="0" t="0"/>
          <a:stretch/>
        </p:blipFill>
        <p:spPr>
          <a:xfrm>
            <a:off x="680325" y="3927802"/>
            <a:ext cx="10566301" cy="205937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9794fb1a07_1_0"/>
          <p:cNvSpPr txBox="1"/>
          <p:nvPr/>
        </p:nvSpPr>
        <p:spPr>
          <a:xfrm>
            <a:off x="812800" y="1278200"/>
            <a:ext cx="85725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Exported results in FASTA file: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-"/>
            </a:pPr>
            <a:r>
              <a:rPr lang="en-US" sz="1600">
                <a:solidFill>
                  <a:schemeClr val="dk1"/>
                </a:solidFill>
              </a:rPr>
              <a:t>Gene Target (e.g., HBB)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-"/>
            </a:pPr>
            <a:r>
              <a:rPr lang="en-US" sz="1600">
                <a:solidFill>
                  <a:schemeClr val="dk1"/>
                </a:solidFill>
              </a:rPr>
              <a:t>Genomic Coordinates (reference location)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-"/>
            </a:pPr>
            <a:r>
              <a:rPr lang="en-US" sz="1600">
                <a:solidFill>
                  <a:schemeClr val="dk1"/>
                </a:solidFill>
              </a:rPr>
              <a:t>Mutation ID (e.g., c.20A&gt;T)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-"/>
            </a:pPr>
            <a:r>
              <a:rPr b="1" lang="en-US" sz="1600">
                <a:solidFill>
                  <a:schemeClr val="dk1"/>
                </a:solidFill>
              </a:rPr>
              <a:t>Target Nucleotide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-"/>
            </a:pPr>
            <a:r>
              <a:rPr lang="en-US" sz="1600">
                <a:solidFill>
                  <a:schemeClr val="dk1"/>
                </a:solidFill>
              </a:rPr>
              <a:t>disease label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-"/>
            </a:pPr>
            <a:r>
              <a:rPr b="1" lang="en-US" sz="1600">
                <a:solidFill>
                  <a:schemeClr val="dk1"/>
                </a:solidFill>
              </a:rPr>
              <a:t>Reference Nucleotide: A (within reference sequence)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-"/>
            </a:pPr>
            <a:r>
              <a:rPr lang="en-US" sz="1600">
                <a:solidFill>
                  <a:schemeClr val="dk1"/>
                </a:solidFill>
              </a:rPr>
              <a:t>Homology Arms: Flanking DNA sequences (in both Query and Reference strings)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-"/>
            </a:pPr>
            <a:r>
              <a:rPr lang="en-US" sz="1600">
                <a:solidFill>
                  <a:schemeClr val="dk1"/>
                </a:solidFill>
              </a:rPr>
              <a:t>Exon/Intron Map: Sequence differences between short query and long reference blocks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c0cbf9c99_1_18"/>
          <p:cNvSpPr txBox="1"/>
          <p:nvPr>
            <p:ph type="title"/>
          </p:nvPr>
        </p:nvSpPr>
        <p:spPr>
          <a:xfrm>
            <a:off x="-24450" y="500300"/>
            <a:ext cx="12240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Benchling CRISPR Functionality &amp; Specificity Scoring</a:t>
            </a:r>
            <a:endParaRPr/>
          </a:p>
        </p:txBody>
      </p:sp>
      <p:sp>
        <p:nvSpPr>
          <p:cNvPr id="147" name="Google Shape;147;g3cc0cbf9c99_1_18"/>
          <p:cNvSpPr txBox="1"/>
          <p:nvPr>
            <p:ph idx="1" type="body"/>
          </p:nvPr>
        </p:nvSpPr>
        <p:spPr>
          <a:xfrm>
            <a:off x="501450" y="1298500"/>
            <a:ext cx="111891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000"/>
              <a:t>Purpose</a:t>
            </a:r>
            <a:r>
              <a:rPr lang="en-US" sz="2000"/>
              <a:t>: </a:t>
            </a:r>
            <a:r>
              <a:rPr lang="en-US" sz="1800"/>
              <a:t>Import a FASTA file output from web app for running a CRISPR Design Analysis to create a list of viable PAM sites with On/Off-Target Scores and export list as a table to visualize and chose PAM site</a:t>
            </a:r>
            <a:endParaRPr sz="2000"/>
          </a:p>
        </p:txBody>
      </p:sp>
      <p:pic>
        <p:nvPicPr>
          <p:cNvPr id="148" name="Google Shape;148;g3cc0cbf9c99_1_18" title="Screenshot 2026-03-01 at 8.58.32 PM.png"/>
          <p:cNvPicPr preferRelativeResize="0"/>
          <p:nvPr/>
        </p:nvPicPr>
        <p:blipFill rotWithShape="1">
          <a:blip r:embed="rId3">
            <a:alphaModFix/>
          </a:blip>
          <a:srcRect b="7724" l="0" r="0" t="0"/>
          <a:stretch/>
        </p:blipFill>
        <p:spPr>
          <a:xfrm>
            <a:off x="2126725" y="4498750"/>
            <a:ext cx="4454749" cy="19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cc0cbf9c99_1_18"/>
          <p:cNvSpPr txBox="1"/>
          <p:nvPr/>
        </p:nvSpPr>
        <p:spPr>
          <a:xfrm>
            <a:off x="1928250" y="6363475"/>
            <a:ext cx="30849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Image: https://platform.cysf.org/media/CRISPR_Cas9_-_The_genetic_scissors_to_treat_Sickle_Cell_Disease1.pdf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cc0cbf9c99_1_18"/>
          <p:cNvSpPr txBox="1"/>
          <p:nvPr>
            <p:ph idx="1" type="body"/>
          </p:nvPr>
        </p:nvSpPr>
        <p:spPr>
          <a:xfrm>
            <a:off x="274200" y="2171500"/>
            <a:ext cx="6393000" cy="3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Specificity/Efficiency Scoring: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/>
              <a:t>Specificity Score:</a:t>
            </a:r>
            <a:r>
              <a:rPr lang="en-US" sz="1800"/>
              <a:t> how </a:t>
            </a:r>
            <a:r>
              <a:rPr lang="en-US" sz="1800" u="sng"/>
              <a:t>likely the guide is to cut somewhere else</a:t>
            </a:r>
            <a:r>
              <a:rPr lang="en-US" sz="1800"/>
              <a:t> in the genome by mistake.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/>
              <a:t>Efficiency Score</a:t>
            </a:r>
            <a:r>
              <a:rPr lang="en-US" sz="1800"/>
              <a:t>: How </a:t>
            </a:r>
            <a:r>
              <a:rPr lang="en-US" sz="1800" u="sng"/>
              <a:t>efficiently your guide will actually cut</a:t>
            </a:r>
            <a:r>
              <a:rPr lang="en-US" sz="1800"/>
              <a:t> at the intended site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/>
              <a:t>Goal</a:t>
            </a:r>
            <a:r>
              <a:rPr lang="en-US" sz="1800"/>
              <a:t>: From the list of PAM sites, find a site that sits a decent percentages for both (aim for both to be around or above 60%)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pic>
        <p:nvPicPr>
          <p:cNvPr id="151" name="Google Shape;151;g3cc0cbf9c99_1_18"/>
          <p:cNvPicPr preferRelativeResize="0"/>
          <p:nvPr/>
        </p:nvPicPr>
        <p:blipFill rotWithShape="1">
          <a:blip r:embed="rId4">
            <a:alphaModFix/>
          </a:blip>
          <a:srcRect b="0" l="25749" r="4394" t="16667"/>
          <a:stretch/>
        </p:blipFill>
        <p:spPr>
          <a:xfrm>
            <a:off x="6667200" y="2171500"/>
            <a:ext cx="5406199" cy="453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77e5040e2_1_36"/>
          <p:cNvSpPr txBox="1"/>
          <p:nvPr>
            <p:ph type="title"/>
          </p:nvPr>
        </p:nvSpPr>
        <p:spPr>
          <a:xfrm>
            <a:off x="812800" y="762000"/>
            <a:ext cx="105663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Technical Example – SNP detection</a:t>
            </a:r>
            <a:endParaRPr/>
          </a:p>
        </p:txBody>
      </p:sp>
      <p:sp>
        <p:nvSpPr>
          <p:cNvPr id="158" name="Google Shape;158;g3977e5040e2_1_36"/>
          <p:cNvSpPr txBox="1"/>
          <p:nvPr>
            <p:ph idx="1" type="body"/>
          </p:nvPr>
        </p:nvSpPr>
        <p:spPr>
          <a:xfrm>
            <a:off x="812800" y="1828800"/>
            <a:ext cx="10566300" cy="3886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g3977e5040e2_1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275" y="1908288"/>
            <a:ext cx="4808600" cy="372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977e5040e2_1_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0474" y="2585475"/>
            <a:ext cx="7005925" cy="237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977e5040e2_1_36"/>
          <p:cNvSpPr txBox="1"/>
          <p:nvPr/>
        </p:nvSpPr>
        <p:spPr>
          <a:xfrm>
            <a:off x="5216075" y="5140475"/>
            <a:ext cx="680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Identified position off by 1 due to python indexing that starts from 0 instead of 1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78b5ecc7f_0_3"/>
          <p:cNvSpPr txBox="1"/>
          <p:nvPr/>
        </p:nvSpPr>
        <p:spPr>
          <a:xfrm>
            <a:off x="98600" y="466175"/>
            <a:ext cx="1096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Technical Example – gRNA design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68" name="Google Shape;168;g3978b5ecc7f_0_3"/>
          <p:cNvSpPr txBox="1"/>
          <p:nvPr/>
        </p:nvSpPr>
        <p:spPr>
          <a:xfrm>
            <a:off x="60125" y="5020700"/>
            <a:ext cx="58359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More calibration and tuning needed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69" name="Google Shape;169;g3978b5ecc7f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57475"/>
            <a:ext cx="4847275" cy="3236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978b5ecc7f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2075" y="1751675"/>
            <a:ext cx="6887526" cy="2842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3d8052bae_2_1"/>
          <p:cNvSpPr txBox="1"/>
          <p:nvPr>
            <p:ph type="title"/>
          </p:nvPr>
        </p:nvSpPr>
        <p:spPr>
          <a:xfrm>
            <a:off x="812850" y="263075"/>
            <a:ext cx="105663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Demo movie</a:t>
            </a:r>
            <a:endParaRPr/>
          </a:p>
        </p:txBody>
      </p:sp>
      <p:sp>
        <p:nvSpPr>
          <p:cNvPr id="177" name="Google Shape;177;g3d3d8052bae_2_1"/>
          <p:cNvSpPr txBox="1"/>
          <p:nvPr/>
        </p:nvSpPr>
        <p:spPr>
          <a:xfrm>
            <a:off x="1812850" y="6268075"/>
            <a:ext cx="6774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https://drive.google.com/file/d/1Zlv9HJRwwX3o1Xl_NMbALaPO3bRwJb7A/view?usp=drive_link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d3d8052bae_2_1"/>
          <p:cNvSpPr txBox="1"/>
          <p:nvPr/>
        </p:nvSpPr>
        <p:spPr>
          <a:xfrm>
            <a:off x="8787600" y="1040100"/>
            <a:ext cx="3072600" cy="47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It takes 6 steps: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arenR"/>
            </a:pPr>
            <a:r>
              <a:rPr lang="en-US" sz="1900">
                <a:solidFill>
                  <a:schemeClr val="dk1"/>
                </a:solidFill>
              </a:rPr>
              <a:t>Configure Blast Bin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arenR"/>
            </a:pPr>
            <a:r>
              <a:rPr lang="en-US" sz="1900">
                <a:solidFill>
                  <a:schemeClr val="dk1"/>
                </a:solidFill>
              </a:rPr>
              <a:t>Build Database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arenR"/>
            </a:pPr>
            <a:r>
              <a:rPr lang="en-US" sz="1900">
                <a:solidFill>
                  <a:schemeClr val="dk1"/>
                </a:solidFill>
              </a:rPr>
              <a:t>Input query fasta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arenR"/>
            </a:pPr>
            <a:r>
              <a:rPr lang="en-US" sz="1900">
                <a:solidFill>
                  <a:schemeClr val="dk1"/>
                </a:solidFill>
              </a:rPr>
              <a:t>Start SNP analysis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arenR"/>
            </a:pPr>
            <a:r>
              <a:rPr lang="en-US" sz="1900">
                <a:solidFill>
                  <a:schemeClr val="dk1"/>
                </a:solidFill>
              </a:rPr>
              <a:t>gRNA design generation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arenR"/>
            </a:pPr>
            <a:r>
              <a:rPr lang="en-US" sz="1900">
                <a:solidFill>
                  <a:schemeClr val="dk1"/>
                </a:solidFill>
              </a:rPr>
              <a:t>Visualization of gRNA binding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Our GUI meets the current </a:t>
            </a:r>
            <a:r>
              <a:rPr b="1" lang="en-US" sz="1900">
                <a:solidFill>
                  <a:schemeClr val="dk1"/>
                </a:solidFill>
              </a:rPr>
              <a:t>intuitiveness </a:t>
            </a:r>
            <a:r>
              <a:rPr b="1" lang="en-US" sz="1900">
                <a:solidFill>
                  <a:schemeClr val="dk1"/>
                </a:solidFill>
              </a:rPr>
              <a:t>expectation</a:t>
            </a:r>
            <a:r>
              <a:rPr b="1" lang="en-US" sz="1900">
                <a:solidFill>
                  <a:schemeClr val="dk1"/>
                </a:solidFill>
              </a:rPr>
              <a:t> of &lt;7 steps</a:t>
            </a:r>
            <a:r>
              <a:rPr lang="en-US" sz="1900">
                <a:solidFill>
                  <a:schemeClr val="dk1"/>
                </a:solidFill>
              </a:rPr>
              <a:t>; having minimal and more concise steps.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79" name="Google Shape;179;g3d3d8052bae_2_1" title="App demo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101275"/>
            <a:ext cx="8482802" cy="4134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794fb1a07_2_13"/>
          <p:cNvSpPr txBox="1"/>
          <p:nvPr>
            <p:ph type="title"/>
          </p:nvPr>
        </p:nvSpPr>
        <p:spPr>
          <a:xfrm>
            <a:off x="812800" y="762000"/>
            <a:ext cx="105663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Success Analysis</a:t>
            </a:r>
            <a:endParaRPr/>
          </a:p>
        </p:txBody>
      </p:sp>
      <p:sp>
        <p:nvSpPr>
          <p:cNvPr id="186" name="Google Shape;186;g39794fb1a07_2_13"/>
          <p:cNvSpPr txBox="1"/>
          <p:nvPr>
            <p:ph idx="1" type="body"/>
          </p:nvPr>
        </p:nvSpPr>
        <p:spPr>
          <a:xfrm>
            <a:off x="812800" y="1828800"/>
            <a:ext cx="10566300" cy="3886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arenR"/>
            </a:pPr>
            <a:r>
              <a:rPr lang="en-US"/>
              <a:t>GUI platform functions with integrated python packages and headless BLAST call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arenR"/>
            </a:pPr>
            <a:r>
              <a:rPr lang="en-US"/>
              <a:t>BLAST </a:t>
            </a:r>
            <a:r>
              <a:rPr lang="en-US"/>
              <a:t>functionality</a:t>
            </a:r>
            <a:r>
              <a:rPr lang="en-US"/>
              <a:t> works under </a:t>
            </a:r>
            <a:r>
              <a:rPr lang="en-US"/>
              <a:t>constraint</a:t>
            </a:r>
            <a:r>
              <a:rPr lang="en-US"/>
              <a:t> conditions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arenR"/>
            </a:pPr>
            <a:r>
              <a:rPr lang="en-US"/>
              <a:t>Database handling &amp; safety check capable prevent duplicate and invalid nucleotide letter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arenR"/>
            </a:pPr>
            <a:r>
              <a:rPr lang="en-US"/>
              <a:t>Scoring metric of gRNA is accurate on computational level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77e5040e2_1_90"/>
          <p:cNvSpPr txBox="1"/>
          <p:nvPr>
            <p:ph type="title"/>
          </p:nvPr>
        </p:nvSpPr>
        <p:spPr>
          <a:xfrm>
            <a:off x="812850" y="571500"/>
            <a:ext cx="105663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Failures</a:t>
            </a:r>
            <a:endParaRPr/>
          </a:p>
        </p:txBody>
      </p:sp>
      <p:graphicFrame>
        <p:nvGraphicFramePr>
          <p:cNvPr id="193" name="Google Shape;193;g3977e5040e2_1_90"/>
          <p:cNvGraphicFramePr/>
          <p:nvPr/>
        </p:nvGraphicFramePr>
        <p:xfrm>
          <a:off x="952450" y="128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{65AF65CE-4952-4BA7-B39B-3DFD5777F2F3}</a:tableStyleId>
              </a:tblPr>
              <a:tblGrid>
                <a:gridCol w="3429000"/>
                <a:gridCol w="3429000"/>
                <a:gridCol w="3429000"/>
              </a:tblGrid>
              <a:tr h="70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Failure</a:t>
                      </a:r>
                      <a:endParaRPr b="1"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Impact</a:t>
                      </a:r>
                      <a:endParaRPr b="1"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Potential Solution</a:t>
                      </a:r>
                      <a:endParaRPr b="1"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94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BLAST alignment ambiguity/uncertainty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Gaps and shifted boundaries caused SNP-analysis errors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Improve alignment filtering and comparison logic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Reference &amp; SNP d</a:t>
                      </a:r>
                      <a:r>
                        <a:rPr lang="en-US" sz="1700"/>
                        <a:t>isease database dependency 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Missing metadata led to unknown variant matches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Standardize and validate sequence records; and 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Improvised gRNA workflow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Pivoted to Benchling: guide scoring and visualization were built but not fully tested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Add automated Benchling export parsing and ranking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Self-coded gRNA design module was not validated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Guide sequence, ranking and specificity could not be fully trusted yet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More tuning and calibration needed for gRNA generation &amp; validation. To be assessed against gold-standard gRNA design tools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77e5040e2_1_42"/>
          <p:cNvSpPr txBox="1"/>
          <p:nvPr>
            <p:ph type="title"/>
          </p:nvPr>
        </p:nvSpPr>
        <p:spPr>
          <a:xfrm>
            <a:off x="812800" y="762000"/>
            <a:ext cx="105663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Connection to Synthetic Biology Field</a:t>
            </a:r>
            <a:endParaRPr/>
          </a:p>
        </p:txBody>
      </p:sp>
      <p:sp>
        <p:nvSpPr>
          <p:cNvPr id="200" name="Google Shape;200;g3977e5040e2_1_42"/>
          <p:cNvSpPr txBox="1"/>
          <p:nvPr>
            <p:ph idx="1" type="body"/>
          </p:nvPr>
        </p:nvSpPr>
        <p:spPr>
          <a:xfrm>
            <a:off x="812800" y="1628475"/>
            <a:ext cx="10566300" cy="4086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arenR"/>
            </a:pPr>
            <a:r>
              <a:rPr lang="en-US"/>
              <a:t>M</a:t>
            </a:r>
            <a:r>
              <a:rPr lang="en-US"/>
              <a:t>utation analysis and SNP identification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arenR"/>
            </a:pPr>
            <a:r>
              <a:rPr lang="en-US"/>
              <a:t>Target definition for genome editing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arenR"/>
            </a:pPr>
            <a:r>
              <a:rPr lang="en-US"/>
              <a:t>Support for downstream gRNA design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arenR"/>
            </a:pPr>
            <a:r>
              <a:rPr lang="en-US"/>
              <a:t>Future expansion into circuit design, assembly planning, and protocol design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Foundational core of this project is to serve as mutation-analysis and target-definition tool that bridges sequence analysis with downstream synthetic biology design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c0cbf9c99_1_66"/>
          <p:cNvSpPr txBox="1"/>
          <p:nvPr>
            <p:ph type="ctrTitle"/>
          </p:nvPr>
        </p:nvSpPr>
        <p:spPr>
          <a:xfrm>
            <a:off x="914400" y="22860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2013-11-15T02:17:21Z</dcterms:created>
  <dc:creator>Catherine Klapperich</dc:creator>
</cp:coreProperties>
</file>